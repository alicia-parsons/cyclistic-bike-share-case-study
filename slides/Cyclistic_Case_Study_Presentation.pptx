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CA2E0-E228-4CE5-8A3C-DE88E7015DBE}" v="17" dt="2026-01-15T19:32:16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Parsons" userId="e2346b480c661915" providerId="LiveId" clId="{C4F5EADE-8D87-412D-B741-C62B1B6830C1}"/>
    <pc:docChg chg="undo custSel modSld">
      <pc:chgData name="Alicia Parsons" userId="e2346b480c661915" providerId="LiveId" clId="{C4F5EADE-8D87-412D-B741-C62B1B6830C1}" dt="2026-01-15T19:32:57.236" v="103" actId="1076"/>
      <pc:docMkLst>
        <pc:docMk/>
      </pc:docMkLst>
      <pc:sldChg chg="addSp modSp mod">
        <pc:chgData name="Alicia Parsons" userId="e2346b480c661915" providerId="LiveId" clId="{C4F5EADE-8D87-412D-B741-C62B1B6830C1}" dt="2026-01-15T19:08:20.413" v="3" actId="20577"/>
        <pc:sldMkLst>
          <pc:docMk/>
          <pc:sldMk cId="0" sldId="256"/>
        </pc:sldMkLst>
        <pc:spChg chg="mod">
          <ac:chgData name="Alicia Parsons" userId="e2346b480c661915" providerId="LiveId" clId="{C4F5EADE-8D87-412D-B741-C62B1B6830C1}" dt="2026-01-15T19:08:20.413" v="3" actId="2057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07:44.469" v="1" actId="1076"/>
          <ac:picMkLst>
            <pc:docMk/>
            <pc:sldMk cId="0" sldId="256"/>
            <ac:picMk id="6" creationId="{9A88A3D5-4C96-F38E-B36B-C06DD3AA6D22}"/>
          </ac:picMkLst>
        </pc:picChg>
      </pc:sldChg>
      <pc:sldChg chg="addSp modSp mod">
        <pc:chgData name="Alicia Parsons" userId="e2346b480c661915" providerId="LiveId" clId="{C4F5EADE-8D87-412D-B741-C62B1B6830C1}" dt="2026-01-15T19:12:17.063" v="20" actId="1076"/>
        <pc:sldMkLst>
          <pc:docMk/>
          <pc:sldMk cId="0" sldId="257"/>
        </pc:sldMkLst>
        <pc:spChg chg="mod">
          <ac:chgData name="Alicia Parsons" userId="e2346b480c661915" providerId="LiveId" clId="{C4F5EADE-8D87-412D-B741-C62B1B6830C1}" dt="2026-01-15T19:11:51.471" v="19" actId="114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12:17.063" v="20" actId="1076"/>
          <ac:picMkLst>
            <pc:docMk/>
            <pc:sldMk cId="0" sldId="257"/>
            <ac:picMk id="6" creationId="{73552B5C-8357-8F78-DFFA-C041764F2280}"/>
          </ac:picMkLst>
        </pc:picChg>
      </pc:sldChg>
      <pc:sldChg chg="addSp modSp mod">
        <pc:chgData name="Alicia Parsons" userId="e2346b480c661915" providerId="LiveId" clId="{C4F5EADE-8D87-412D-B741-C62B1B6830C1}" dt="2026-01-15T19:13:31.273" v="26" actId="1076"/>
        <pc:sldMkLst>
          <pc:docMk/>
          <pc:sldMk cId="0" sldId="258"/>
        </pc:sldMkLst>
        <pc:picChg chg="add mod">
          <ac:chgData name="Alicia Parsons" userId="e2346b480c661915" providerId="LiveId" clId="{C4F5EADE-8D87-412D-B741-C62B1B6830C1}" dt="2026-01-15T19:13:31.273" v="26" actId="1076"/>
          <ac:picMkLst>
            <pc:docMk/>
            <pc:sldMk cId="0" sldId="258"/>
            <ac:picMk id="6" creationId="{11EB61BE-4685-8DC9-AFD2-35B436A2A745}"/>
          </ac:picMkLst>
        </pc:picChg>
      </pc:sldChg>
      <pc:sldChg chg="addSp modSp mod">
        <pc:chgData name="Alicia Parsons" userId="e2346b480c661915" providerId="LiveId" clId="{C4F5EADE-8D87-412D-B741-C62B1B6830C1}" dt="2026-01-15T19:14:32.027" v="29" actId="1076"/>
        <pc:sldMkLst>
          <pc:docMk/>
          <pc:sldMk cId="0" sldId="259"/>
        </pc:sldMkLst>
        <pc:picChg chg="add mod">
          <ac:chgData name="Alicia Parsons" userId="e2346b480c661915" providerId="LiveId" clId="{C4F5EADE-8D87-412D-B741-C62B1B6830C1}" dt="2026-01-15T19:14:32.027" v="29" actId="1076"/>
          <ac:picMkLst>
            <pc:docMk/>
            <pc:sldMk cId="0" sldId="259"/>
            <ac:picMk id="6" creationId="{543CBF6B-B98B-060D-E01A-04E3FB1D6651}"/>
          </ac:picMkLst>
        </pc:picChg>
      </pc:sldChg>
      <pc:sldChg chg="addSp modSp mod">
        <pc:chgData name="Alicia Parsons" userId="e2346b480c661915" providerId="LiveId" clId="{C4F5EADE-8D87-412D-B741-C62B1B6830C1}" dt="2026-01-15T19:15:35.547" v="32" actId="1076"/>
        <pc:sldMkLst>
          <pc:docMk/>
          <pc:sldMk cId="0" sldId="260"/>
        </pc:sldMkLst>
        <pc:picChg chg="add mod">
          <ac:chgData name="Alicia Parsons" userId="e2346b480c661915" providerId="LiveId" clId="{C4F5EADE-8D87-412D-B741-C62B1B6830C1}" dt="2026-01-15T19:15:35.547" v="32" actId="1076"/>
          <ac:picMkLst>
            <pc:docMk/>
            <pc:sldMk cId="0" sldId="260"/>
            <ac:picMk id="6" creationId="{D97D9776-C87C-2855-6FF8-8CD0E93E6F6D}"/>
          </ac:picMkLst>
        </pc:picChg>
      </pc:sldChg>
      <pc:sldChg chg="addSp modSp mod">
        <pc:chgData name="Alicia Parsons" userId="e2346b480c661915" providerId="LiveId" clId="{C4F5EADE-8D87-412D-B741-C62B1B6830C1}" dt="2026-01-15T19:19:06.170" v="51" actId="113"/>
        <pc:sldMkLst>
          <pc:docMk/>
          <pc:sldMk cId="0" sldId="261"/>
        </pc:sldMkLst>
        <pc:spChg chg="mod">
          <ac:chgData name="Alicia Parsons" userId="e2346b480c661915" providerId="LiveId" clId="{C4F5EADE-8D87-412D-B741-C62B1B6830C1}" dt="2026-01-15T19:19:06.170" v="51" actId="113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18:23.518" v="45" actId="1076"/>
          <ac:picMkLst>
            <pc:docMk/>
            <pc:sldMk cId="0" sldId="261"/>
            <ac:picMk id="6" creationId="{A2D692FF-15E3-DB99-E13E-9503FC8C8873}"/>
          </ac:picMkLst>
        </pc:picChg>
        <pc:picChg chg="add mod">
          <ac:chgData name="Alicia Parsons" userId="e2346b480c661915" providerId="LiveId" clId="{C4F5EADE-8D87-412D-B741-C62B1B6830C1}" dt="2026-01-15T19:18:23.518" v="45" actId="1076"/>
          <ac:picMkLst>
            <pc:docMk/>
            <pc:sldMk cId="0" sldId="261"/>
            <ac:picMk id="8" creationId="{3CBC344F-13E7-ADA4-CC5F-819B89B0BFFF}"/>
          </ac:picMkLst>
        </pc:picChg>
      </pc:sldChg>
      <pc:sldChg chg="addSp delSp modSp mod">
        <pc:chgData name="Alicia Parsons" userId="e2346b480c661915" providerId="LiveId" clId="{C4F5EADE-8D87-412D-B741-C62B1B6830C1}" dt="2026-01-15T19:29:13.002" v="86" actId="478"/>
        <pc:sldMkLst>
          <pc:docMk/>
          <pc:sldMk cId="0" sldId="262"/>
        </pc:sldMkLst>
        <pc:spChg chg="mod">
          <ac:chgData name="Alicia Parsons" userId="e2346b480c661915" providerId="LiveId" clId="{C4F5EADE-8D87-412D-B741-C62B1B6830C1}" dt="2026-01-15T19:18:45.143" v="46" actId="113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19:49.932" v="54" actId="1076"/>
          <ac:picMkLst>
            <pc:docMk/>
            <pc:sldMk cId="0" sldId="262"/>
            <ac:picMk id="6" creationId="{5B11DB67-86C5-32F4-2D9E-CE942B5A03D4}"/>
          </ac:picMkLst>
        </pc:picChg>
        <pc:picChg chg="add del mod">
          <ac:chgData name="Alicia Parsons" userId="e2346b480c661915" providerId="LiveId" clId="{C4F5EADE-8D87-412D-B741-C62B1B6830C1}" dt="2026-01-15T19:29:13.002" v="86" actId="478"/>
          <ac:picMkLst>
            <pc:docMk/>
            <pc:sldMk cId="0" sldId="262"/>
            <ac:picMk id="7" creationId="{E55A553C-8125-0C28-6B26-FD9A6C716D74}"/>
          </ac:picMkLst>
        </pc:picChg>
      </pc:sldChg>
      <pc:sldChg chg="addSp modSp mod">
        <pc:chgData name="Alicia Parsons" userId="e2346b480c661915" providerId="LiveId" clId="{C4F5EADE-8D87-412D-B741-C62B1B6830C1}" dt="2026-01-15T19:20:27.632" v="59" actId="1076"/>
        <pc:sldMkLst>
          <pc:docMk/>
          <pc:sldMk cId="0" sldId="263"/>
        </pc:sldMkLst>
        <pc:spChg chg="mod">
          <ac:chgData name="Alicia Parsons" userId="e2346b480c661915" providerId="LiveId" clId="{C4F5EADE-8D87-412D-B741-C62B1B6830C1}" dt="2026-01-15T19:19:56.204" v="55" actId="113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20:27.632" v="59" actId="1076"/>
          <ac:picMkLst>
            <pc:docMk/>
            <pc:sldMk cId="0" sldId="263"/>
            <ac:picMk id="6" creationId="{B0E7A466-DA6F-6D71-42D7-18C9B9733FF2}"/>
          </ac:picMkLst>
        </pc:picChg>
      </pc:sldChg>
      <pc:sldChg chg="addSp delSp modSp mod">
        <pc:chgData name="Alicia Parsons" userId="e2346b480c661915" providerId="LiveId" clId="{C4F5EADE-8D87-412D-B741-C62B1B6830C1}" dt="2026-01-15T19:32:57.236" v="103" actId="1076"/>
        <pc:sldMkLst>
          <pc:docMk/>
          <pc:sldMk cId="0" sldId="264"/>
        </pc:sldMkLst>
        <pc:spChg chg="mod">
          <ac:chgData name="Alicia Parsons" userId="e2346b480c661915" providerId="LiveId" clId="{C4F5EADE-8D87-412D-B741-C62B1B6830C1}" dt="2026-01-15T19:22:14.009" v="75" actId="20577"/>
          <ac:spMkLst>
            <pc:docMk/>
            <pc:sldMk cId="0" sldId="264"/>
            <ac:spMk id="3" creationId="{00000000-0000-0000-0000-000000000000}"/>
          </ac:spMkLst>
        </pc:spChg>
        <pc:picChg chg="add del mod">
          <ac:chgData name="Alicia Parsons" userId="e2346b480c661915" providerId="LiveId" clId="{C4F5EADE-8D87-412D-B741-C62B1B6830C1}" dt="2026-01-15T19:29:58.919" v="87" actId="478"/>
          <ac:picMkLst>
            <pc:docMk/>
            <pc:sldMk cId="0" sldId="264"/>
            <ac:picMk id="5" creationId="{CCE669C3-EEF0-6918-B7EF-7D496BA14955}"/>
          </ac:picMkLst>
        </pc:picChg>
        <pc:picChg chg="add del mod">
          <ac:chgData name="Alicia Parsons" userId="e2346b480c661915" providerId="LiveId" clId="{C4F5EADE-8D87-412D-B741-C62B1B6830C1}" dt="2026-01-15T19:30:00.424" v="88" actId="478"/>
          <ac:picMkLst>
            <pc:docMk/>
            <pc:sldMk cId="0" sldId="264"/>
            <ac:picMk id="6" creationId="{FC6E2E1E-B42E-DFB4-722D-159F11396763}"/>
          </ac:picMkLst>
        </pc:picChg>
        <pc:picChg chg="add mod">
          <ac:chgData name="Alicia Parsons" userId="e2346b480c661915" providerId="LiveId" clId="{C4F5EADE-8D87-412D-B741-C62B1B6830C1}" dt="2026-01-15T19:32:57.236" v="103" actId="1076"/>
          <ac:picMkLst>
            <pc:docMk/>
            <pc:sldMk cId="0" sldId="264"/>
            <ac:picMk id="7" creationId="{C4AAF31E-AE28-7E62-C008-DFE29109559F}"/>
          </ac:picMkLst>
        </pc:picChg>
        <pc:picChg chg="add mod">
          <ac:chgData name="Alicia Parsons" userId="e2346b480c661915" providerId="LiveId" clId="{C4F5EADE-8D87-412D-B741-C62B1B6830C1}" dt="2026-01-15T19:32:38.824" v="99" actId="14100"/>
          <ac:picMkLst>
            <pc:docMk/>
            <pc:sldMk cId="0" sldId="264"/>
            <ac:picMk id="8" creationId="{355CA9D6-67A2-D83F-F62C-3B830D9CA3FA}"/>
          </ac:picMkLst>
        </pc:picChg>
      </pc:sldChg>
      <pc:sldChg chg="addSp modSp mod">
        <pc:chgData name="Alicia Parsons" userId="e2346b480c661915" providerId="LiveId" clId="{C4F5EADE-8D87-412D-B741-C62B1B6830C1}" dt="2026-01-15T19:23:58.710" v="78" actId="1076"/>
        <pc:sldMkLst>
          <pc:docMk/>
          <pc:sldMk cId="0" sldId="265"/>
        </pc:sldMkLst>
        <pc:spChg chg="mod">
          <ac:chgData name="Alicia Parsons" userId="e2346b480c661915" providerId="LiveId" clId="{C4F5EADE-8D87-412D-B741-C62B1B6830C1}" dt="2026-01-15T19:22:04.096" v="73" actId="20577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Alicia Parsons" userId="e2346b480c661915" providerId="LiveId" clId="{C4F5EADE-8D87-412D-B741-C62B1B6830C1}" dt="2026-01-15T19:23:58.710" v="78" actId="1076"/>
          <ac:picMkLst>
            <pc:docMk/>
            <pc:sldMk cId="0" sldId="265"/>
            <ac:picMk id="6" creationId="{54B74F83-7C00-4A69-36BC-A65DFE79E033}"/>
          </ac:picMkLst>
        </pc:picChg>
      </pc:sldChg>
      <pc:sldChg chg="addSp modSp mod">
        <pc:chgData name="Alicia Parsons" userId="e2346b480c661915" providerId="LiveId" clId="{C4F5EADE-8D87-412D-B741-C62B1B6830C1}" dt="2026-01-15T19:24:38.352" v="81" actId="1076"/>
        <pc:sldMkLst>
          <pc:docMk/>
          <pc:sldMk cId="0" sldId="266"/>
        </pc:sldMkLst>
        <pc:picChg chg="add mod">
          <ac:chgData name="Alicia Parsons" userId="e2346b480c661915" providerId="LiveId" clId="{C4F5EADE-8D87-412D-B741-C62B1B6830C1}" dt="2026-01-15T19:24:38.352" v="81" actId="1076"/>
          <ac:picMkLst>
            <pc:docMk/>
            <pc:sldMk cId="0" sldId="266"/>
            <ac:picMk id="6" creationId="{15630F66-1E3E-01CE-39B0-B40BA0E2B477}"/>
          </ac:picMkLst>
        </pc:picChg>
      </pc:sldChg>
      <pc:sldChg chg="addSp modSp">
        <pc:chgData name="Alicia Parsons" userId="e2346b480c661915" providerId="LiveId" clId="{C4F5EADE-8D87-412D-B741-C62B1B6830C1}" dt="2026-01-15T19:25:28.954" v="82" actId="931"/>
        <pc:sldMkLst>
          <pc:docMk/>
          <pc:sldMk cId="0" sldId="267"/>
        </pc:sldMkLst>
        <pc:picChg chg="add mod">
          <ac:chgData name="Alicia Parsons" userId="e2346b480c661915" providerId="LiveId" clId="{C4F5EADE-8D87-412D-B741-C62B1B6830C1}" dt="2026-01-15T19:25:28.954" v="82" actId="931"/>
          <ac:picMkLst>
            <pc:docMk/>
            <pc:sldMk cId="0" sldId="267"/>
            <ac:picMk id="6" creationId="{D54C5C3D-B04A-C3C7-A78F-6C8D959A3B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99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case study and explain that the goal is to understand rider behavior in order to increase annual memberships.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business objective and why understanding rider behavior matters for revenue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insights must be actionable and understandable for non-technical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data source and emphasize the use of R for cleaning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cleaning was essential due to schema differences across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descriptive statistics were used to uncover usage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chart and explain how ride length differs significantly by rider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members rely on bikes for routine transportation.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that these differences support targeted marketing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marketing during weekends increases conversion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short-term plans can ease commitment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how these actions support Cyclistic’s long-term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rPr dirty="0"/>
              <a:t>How Does a Bike-Share Navigate Speedy Success?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Cyclistic</a:t>
            </a:r>
            <a:r>
              <a:rPr dirty="0"/>
              <a:t> Bike-Share </a:t>
            </a:r>
            <a:endParaRPr lang="en-US" dirty="0"/>
          </a:p>
          <a:p>
            <a:r>
              <a:rPr dirty="0"/>
              <a:t>Case Study</a:t>
            </a:r>
          </a:p>
          <a:p>
            <a:r>
              <a:rPr dirty="0"/>
              <a:t>Google Data Analytics Capstone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Cycling with solid fill">
            <a:extLst>
              <a:ext uri="{FF2B5EF4-FFF2-40B4-BE49-F238E27FC236}">
                <a16:creationId xmlns:a16="http://schemas.microsoft.com/office/drawing/2014/main" id="{9A88A3D5-4C96-F38E-B36B-C06DD3AA6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79089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6411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b="1" dirty="0" err="1"/>
              <a:t>Cyclistic</a:t>
            </a:r>
            <a:r>
              <a:rPr dirty="0"/>
              <a:t> wants to grow annual memberships</a:t>
            </a:r>
          </a:p>
          <a:p>
            <a:pPr lvl="1">
              <a:defRPr sz="1800"/>
            </a:pPr>
            <a:r>
              <a:rPr dirty="0"/>
              <a:t>Marketing needs insight into rider behavior</a:t>
            </a:r>
            <a:endParaRPr lang="en-US" dirty="0"/>
          </a:p>
          <a:p>
            <a:pPr lvl="1">
              <a:defRPr sz="1800"/>
            </a:pPr>
            <a:r>
              <a:rPr dirty="0"/>
              <a:t>Key question: </a:t>
            </a:r>
            <a:r>
              <a:rPr b="1" i="1" dirty="0"/>
              <a:t>How do members and casual riders differ?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Thought outline">
            <a:extLst>
              <a:ext uri="{FF2B5EF4-FFF2-40B4-BE49-F238E27FC236}">
                <a16:creationId xmlns:a16="http://schemas.microsoft.com/office/drawing/2014/main" id="{73552B5C-8357-8F78-DFFA-C041764F2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421" y="3033919"/>
            <a:ext cx="1973158" cy="19731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Director of Marketing</a:t>
            </a:r>
          </a:p>
          <a:p>
            <a:pPr lvl="1">
              <a:defRPr sz="1800"/>
            </a:pPr>
            <a:r>
              <a:t>Marketing Analytics Team</a:t>
            </a:r>
          </a:p>
          <a:p>
            <a:pPr lvl="1">
              <a:defRPr sz="1800"/>
            </a:pPr>
            <a:r>
              <a:t>Executive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Users outline">
            <a:extLst>
              <a:ext uri="{FF2B5EF4-FFF2-40B4-BE49-F238E27FC236}">
                <a16:creationId xmlns:a16="http://schemas.microsoft.com/office/drawing/2014/main" id="{11EB61BE-4685-8DC9-AFD2-35B436A2A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130" y="2873475"/>
            <a:ext cx="1817739" cy="1817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Data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Divvy Trips data (Q1 2019 &amp; Q1 2020)</a:t>
            </a:r>
          </a:p>
          <a:p>
            <a:pPr lvl="1">
              <a:defRPr sz="1800"/>
            </a:pPr>
            <a:r>
              <a:t>Public, anonymized bike-share data</a:t>
            </a:r>
          </a:p>
          <a:p>
            <a:pPr lvl="1">
              <a:defRPr sz="1800"/>
            </a:pPr>
            <a:r>
              <a:t>R (Posit Cloud) and tidyverse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Venn diagram outline">
            <a:extLst>
              <a:ext uri="{FF2B5EF4-FFF2-40B4-BE49-F238E27FC236}">
                <a16:creationId xmlns:a16="http://schemas.microsoft.com/office/drawing/2014/main" id="{543CBF6B-B98B-060D-E01A-04E3FB1D6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3129" y="3050458"/>
            <a:ext cx="1597742" cy="1597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Standardized columns across years</a:t>
            </a:r>
          </a:p>
          <a:p>
            <a:pPr lvl="1">
              <a:defRPr sz="1800"/>
            </a:pPr>
            <a:r>
              <a:t>Converted timestamps</a:t>
            </a:r>
          </a:p>
          <a:p>
            <a:pPr lvl="1">
              <a:defRPr sz="1800"/>
            </a:pPr>
            <a:r>
              <a:t>Created ride length and day-of-week variables</a:t>
            </a:r>
          </a:p>
          <a:p>
            <a:pPr lvl="1">
              <a:defRPr sz="1800"/>
            </a:pPr>
            <a:r>
              <a:t>Removed invalid rides</a:t>
            </a:r>
          </a:p>
          <a:p>
            <a:pPr lvl="1">
              <a:defRPr sz="1800"/>
            </a:pPr>
            <a:r>
              <a:t>Merged into a clean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Checklist with solid fill">
            <a:extLst>
              <a:ext uri="{FF2B5EF4-FFF2-40B4-BE49-F238E27FC236}">
                <a16:creationId xmlns:a16="http://schemas.microsoft.com/office/drawing/2014/main" id="{D97D9776-C87C-2855-6FF8-8CD0E93E6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4467" y="3429000"/>
            <a:ext cx="1315065" cy="1315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rPr dirty="0"/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Grouped riders by </a:t>
            </a:r>
            <a:r>
              <a:rPr lang="en-US" b="1" dirty="0"/>
              <a:t>M</a:t>
            </a:r>
            <a:r>
              <a:rPr b="1" dirty="0"/>
              <a:t>ember </a:t>
            </a:r>
            <a:r>
              <a:rPr dirty="0"/>
              <a:t>vs </a:t>
            </a:r>
            <a:r>
              <a:rPr lang="en-US" b="1" dirty="0"/>
              <a:t>C</a:t>
            </a:r>
            <a:r>
              <a:rPr b="1" dirty="0"/>
              <a:t>asual</a:t>
            </a:r>
          </a:p>
          <a:p>
            <a:pPr lvl="1">
              <a:defRPr sz="1800"/>
            </a:pPr>
            <a:r>
              <a:rPr dirty="0"/>
              <a:t>Compared ride frequency and duration</a:t>
            </a:r>
          </a:p>
          <a:p>
            <a:pPr lvl="1">
              <a:defRPr sz="1800"/>
            </a:pPr>
            <a:r>
              <a:rPr dirty="0"/>
              <a:t>Analyzed patterns by day of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Cycling outline">
            <a:extLst>
              <a:ext uri="{FF2B5EF4-FFF2-40B4-BE49-F238E27FC236}">
                <a16:creationId xmlns:a16="http://schemas.microsoft.com/office/drawing/2014/main" id="{A2D692FF-15E3-DB99-E13E-9503FC8C8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901" y="3279000"/>
            <a:ext cx="1383890" cy="1383890"/>
          </a:xfrm>
          <a:prstGeom prst="rect">
            <a:avLst/>
          </a:prstGeom>
        </p:spPr>
      </p:pic>
      <p:pic>
        <p:nvPicPr>
          <p:cNvPr id="8" name="Graphic 7" descr="Cycling with solid fill">
            <a:extLst>
              <a:ext uri="{FF2B5EF4-FFF2-40B4-BE49-F238E27FC236}">
                <a16:creationId xmlns:a16="http://schemas.microsoft.com/office/drawing/2014/main" id="{3CBC344F-13E7-ADA4-CC5F-819B89B0B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055" y="3429000"/>
            <a:ext cx="1383890" cy="1383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Key Insight: Ride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b="1" dirty="0"/>
              <a:t>Casual</a:t>
            </a:r>
            <a:r>
              <a:rPr dirty="0"/>
              <a:t> riders take longer rides</a:t>
            </a:r>
          </a:p>
          <a:p>
            <a:pPr lvl="1">
              <a:defRPr sz="1800"/>
            </a:pPr>
            <a:r>
              <a:rPr dirty="0"/>
              <a:t>Longest rides occur on weekends</a:t>
            </a:r>
          </a:p>
          <a:p>
            <a:pPr lvl="1">
              <a:defRPr sz="1800"/>
            </a:pPr>
            <a:r>
              <a:rPr dirty="0"/>
              <a:t>Indicates leisure-based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Road outline">
            <a:extLst>
              <a:ext uri="{FF2B5EF4-FFF2-40B4-BE49-F238E27FC236}">
                <a16:creationId xmlns:a16="http://schemas.microsoft.com/office/drawing/2014/main" id="{5B11DB67-86C5-32F4-2D9E-CE942B5A0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6480" y="2971799"/>
            <a:ext cx="1551039" cy="1551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rPr dirty="0"/>
              <a:t>Key Insight: Ride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b="1" dirty="0"/>
              <a:t>Members</a:t>
            </a:r>
            <a:r>
              <a:rPr dirty="0"/>
              <a:t> take far more rides</a:t>
            </a:r>
          </a:p>
          <a:p>
            <a:pPr lvl="1">
              <a:defRPr sz="1800"/>
            </a:pPr>
            <a:r>
              <a:rPr dirty="0"/>
              <a:t>Highest usage on weekdays</a:t>
            </a:r>
          </a:p>
          <a:p>
            <a:pPr lvl="1">
              <a:defRPr sz="1800"/>
            </a:pPr>
            <a:r>
              <a:rPr dirty="0"/>
              <a:t>Indicates commuting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Road with solid fill">
            <a:extLst>
              <a:ext uri="{FF2B5EF4-FFF2-40B4-BE49-F238E27FC236}">
                <a16:creationId xmlns:a16="http://schemas.microsoft.com/office/drawing/2014/main" id="{B0E7A466-DA6F-6D71-42D7-18C9B9733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8045" y="3070122"/>
            <a:ext cx="1587910" cy="1587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b="1" dirty="0"/>
              <a:t>Members</a:t>
            </a:r>
            <a:r>
              <a:rPr dirty="0"/>
              <a:t>: short, frequent, weekday rides</a:t>
            </a:r>
            <a:endParaRPr lang="en-US" dirty="0"/>
          </a:p>
          <a:p>
            <a:pPr>
              <a:defRPr sz="1800"/>
            </a:pPr>
            <a:r>
              <a:rPr b="1" dirty="0"/>
              <a:t>Casual</a:t>
            </a:r>
            <a:r>
              <a:rPr dirty="0"/>
              <a:t> </a:t>
            </a:r>
            <a:r>
              <a:rPr lang="en-US" b="1" dirty="0"/>
              <a:t>R</a:t>
            </a:r>
            <a:r>
              <a:rPr b="1" dirty="0"/>
              <a:t>iders</a:t>
            </a:r>
            <a:r>
              <a:rPr dirty="0"/>
              <a:t>: long, infrequent, weekend rides</a:t>
            </a:r>
          </a:p>
          <a:p>
            <a:pPr lvl="1">
              <a:defRPr sz="1800"/>
            </a:pPr>
            <a:r>
              <a:rPr dirty="0"/>
              <a:t>Two distinct rider behaviors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AF31E-AE28-7E62-C008-DFE291095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550" y="3099385"/>
            <a:ext cx="4211237" cy="2781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5CA9D6-67A2-D83F-F62C-3B830D9CA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13" y="3087329"/>
            <a:ext cx="4316637" cy="2793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Recommendation 1: Weekend Promotions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Target </a:t>
            </a:r>
            <a:r>
              <a:rPr lang="en-US" dirty="0"/>
              <a:t>C</a:t>
            </a:r>
            <a:r>
              <a:rPr dirty="0"/>
              <a:t>asual </a:t>
            </a:r>
            <a:r>
              <a:rPr lang="en-US" dirty="0"/>
              <a:t>R</a:t>
            </a:r>
            <a:r>
              <a:rPr dirty="0"/>
              <a:t>iders during peak usage</a:t>
            </a:r>
          </a:p>
          <a:p>
            <a:pPr lvl="1">
              <a:defRPr sz="1800"/>
            </a:pPr>
            <a:r>
              <a:rPr dirty="0"/>
              <a:t>Promote benefits of annual membership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Diamond outline">
            <a:extLst>
              <a:ext uri="{FF2B5EF4-FFF2-40B4-BE49-F238E27FC236}">
                <a16:creationId xmlns:a16="http://schemas.microsoft.com/office/drawing/2014/main" id="{54B74F83-7C00-4A69-36BC-A65DFE79E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4690" y="2971799"/>
            <a:ext cx="1194619" cy="1194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Recommendation 2: Trial Memberships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Lower barrier to entry</a:t>
            </a:r>
          </a:p>
          <a:p>
            <a:pPr lvl="1">
              <a:defRPr sz="1800"/>
            </a:pPr>
            <a:r>
              <a:t>Encourage casual-to-member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Contract with solid fill">
            <a:extLst>
              <a:ext uri="{FF2B5EF4-FFF2-40B4-BE49-F238E27FC236}">
                <a16:creationId xmlns:a16="http://schemas.microsoft.com/office/drawing/2014/main" id="{15630F66-1E3E-01CE-39B0-B40BA0E2B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9048" y="3207773"/>
            <a:ext cx="1265903" cy="1265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212121"/>
                </a:solidFill>
              </a:defRPr>
            </a:pPr>
            <a:r>
              <a:t>Recommendation 3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digital campaigns during leisure periods</a:t>
            </a:r>
          </a:p>
          <a:p>
            <a:pPr lvl="1">
              <a:defRPr sz="1800"/>
            </a:pPr>
            <a:r>
              <a:t>Analyze more months of data</a:t>
            </a:r>
          </a:p>
          <a:p>
            <a:pPr lvl="1">
              <a:defRPr sz="1800"/>
            </a:pPr>
            <a:r>
              <a:t>Explore geographic and seasonal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phic 5" descr="Marketing with solid fill">
            <a:extLst>
              <a:ext uri="{FF2B5EF4-FFF2-40B4-BE49-F238E27FC236}">
                <a16:creationId xmlns:a16="http://schemas.microsoft.com/office/drawing/2014/main" id="{D54C5C3D-B04A-C3C7-A78F-6C8D959A3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2971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380</Words>
  <Application>Microsoft Office PowerPoint</Application>
  <PresentationFormat>On-screen Show (4:3)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How Does a Bike-Share Navigate Speedy Success?</vt:lpstr>
      <vt:lpstr>Business Problem</vt:lpstr>
      <vt:lpstr>Stakeholders</vt:lpstr>
      <vt:lpstr>Data &amp; Tools</vt:lpstr>
      <vt:lpstr>Data Cleaning &amp; Preparation</vt:lpstr>
      <vt:lpstr>Analysis Approach</vt:lpstr>
      <vt:lpstr>Key Insight: Ride Length</vt:lpstr>
      <vt:lpstr>Key Insight: Ride Frequency</vt:lpstr>
      <vt:lpstr>Summary of Findings</vt:lpstr>
      <vt:lpstr>Recommendation 1: Weekend Promotions</vt:lpstr>
      <vt:lpstr>Recommendation 2: Trial Memberships</vt:lpstr>
      <vt:lpstr>Recommendation 3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Alicia Parsons</cp:lastModifiedBy>
  <cp:revision>1</cp:revision>
  <dcterms:created xsi:type="dcterms:W3CDTF">2013-01-27T09:14:16Z</dcterms:created>
  <dcterms:modified xsi:type="dcterms:W3CDTF">2026-01-15T19:32:59Z</dcterms:modified>
  <cp:category/>
</cp:coreProperties>
</file>